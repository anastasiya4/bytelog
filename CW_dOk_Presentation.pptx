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221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5677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" name="Text 2"/>
          <p:cNvSpPr/>
          <p:nvPr/>
        </p:nvSpPr>
        <p:spPr>
          <a:xfrm>
            <a:off x="-3202712" y="-1353078"/>
            <a:ext cx="175844" cy="180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6400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НАЦІОНАЛЬНИЙ ТЕХНІЧНИЙ УНІВЕРСИТЕТ УКРАЇНИ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«КИЇВСЬКИЙ ПОЛІТЕХНІЧНИЙ ІНСТИТУТ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імені ІГОРЯ СІКОРСЬКОГО»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280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Навчально-науковий інститут атомної та теплової енергетики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Кафедра інженерії програмного забезпечення в енергетиці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Основи Веб-програмування. Курсова робота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«IT-блог ByteLog»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Веб-застосунок на HTML5 / CSS3 / JavaScript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30175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Виконала:</a:t>
            </a:r>
            <a:r>
              <a:rPr lang="en-US" sz="1600" u="sng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uk-UA" sz="1600" u="sng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Джус А.А.</a:t>
            </a:r>
            <a:r>
              <a:rPr lang="en-US" sz="1600" u="sng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u="sng" dirty="0" err="1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група</a:t>
            </a:r>
            <a:r>
              <a:rPr lang="en-US" sz="1600" u="sng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</a:t>
            </a:r>
            <a:r>
              <a:rPr lang="uk-UA" sz="1600" u="sng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В-з41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41071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Перевірив:</a:t>
            </a:r>
            <a:r>
              <a:rPr lang="en-US" sz="1600" u="sng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uk-UA" sz="1600" u="sng" dirty="0" err="1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Недашківсткий</a:t>
            </a:r>
            <a:r>
              <a:rPr lang="uk-UA" sz="1600" u="sng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О.Л.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3813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репозиторій: https://github.com/Anastasiya4/bytelog/tree/All_Project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pic>
        <p:nvPicPr>
          <p:cNvPr id="2050" name="Picture 2" descr="Герб університету | КПІ ім. Ігоря Сікорського">
            <a:extLst>
              <a:ext uri="{FF2B5EF4-FFF2-40B4-BE49-F238E27FC236}">
                <a16:creationId xmlns:a16="http://schemas.microsoft.com/office/drawing/2014/main" id="{31D5C54F-041D-FE93-93BE-E12A83ACF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66" y="83102"/>
            <a:ext cx="593268" cy="59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" name="Text 2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6400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НАЦІОНАЛЬНИЙ ТЕХНІЧНИЙ УНІВЕРСИТЕТ УКРАЇНИ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«КИЇВСЬКИЙ ПОЛІТЕХНІЧНИЙ ІНСТИТУТ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імені ІГОРЯ СІКОРСЬКОГО»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280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 теми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Зростаючий попит на україномовні технічні ресурси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Потреба у якісних IT-матеріалах для розробників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Практичне застосування знань веб-програмування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Мета: розробка повноцінного IT-блогу «ByteLog»</a:t>
            </a:r>
            <a:endParaRPr lang="en-US" sz="22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8BEB62E4-65F8-1D28-F949-A994C9983E75}"/>
              </a:ext>
            </a:extLst>
          </p:cNvPr>
          <p:cNvSpPr/>
          <p:nvPr/>
        </p:nvSpPr>
        <p:spPr>
          <a:xfrm>
            <a:off x="-3202712" y="-1353078"/>
            <a:ext cx="175844" cy="180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11" name="Picture 2" descr="Герб університету | КПІ ім. Ігоря Сікорського">
            <a:extLst>
              <a:ext uri="{FF2B5EF4-FFF2-40B4-BE49-F238E27FC236}">
                <a16:creationId xmlns:a16="http://schemas.microsoft.com/office/drawing/2014/main" id="{771A8542-905F-E147-231B-CE958D487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66" y="83102"/>
            <a:ext cx="593268" cy="59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" name="Text 2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D5E"/>
                </a:solidFill>
              </a:rPr>
              <a:t>КПІ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6400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НАЦІОНАЛЬНИЙ ТЕХНІЧНИЙ УНІВЕРСИТЕТ УКРАЇНИ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«КИЇВСЬКИЙ ПОЛІТЕХНІЧНИЙ ІНСТИТУТ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імені ІГОРЯ СІКОРСЬКОГО»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280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задачі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Спроектувати архітектуру та UML-діаграми застосунку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Розробити адаптивний інтерфейс у темному технічному стилі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Реалізувати моделі даних для всіх сутностей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Реалізувати API-модуль для отримання та оновлення даних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Спроектувати реляційну схему бази даних (9 таблиць)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Підключити зовнішні сервіси та браузерні API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Розробити серверну архітектуру на Node.js / Express.js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Провести тестування та описати розгортання</a:t>
            </a:r>
            <a:endParaRPr lang="en-US" sz="17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69570B4F-7109-26DA-3A34-9DBC4AAB742A}"/>
              </a:ext>
            </a:extLst>
          </p:cNvPr>
          <p:cNvSpPr/>
          <p:nvPr/>
        </p:nvSpPr>
        <p:spPr>
          <a:xfrm>
            <a:off x="-3202712" y="-1353078"/>
            <a:ext cx="175844" cy="180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11" name="Picture 2" descr="Герб університету | КПІ ім. Ігоря Сікорського">
            <a:extLst>
              <a:ext uri="{FF2B5EF4-FFF2-40B4-BE49-F238E27FC236}">
                <a16:creationId xmlns:a16="http://schemas.microsoft.com/office/drawing/2014/main" id="{F07D5BFF-177E-9DC0-ADEE-D31803BD0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66" y="83102"/>
            <a:ext cx="593268" cy="59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" name="Text 2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D5E"/>
                </a:solidFill>
              </a:rPr>
              <a:t>КПІ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6400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НАЦІОНАЛЬНИЙ ТЕХНІЧНИЙ УНІВЕРСИТЕТ УКРАЇНИ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«КИЇВСЬКИЙ ПОЛІТЕХНІЧНИЙ ІНСТИТУТ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імені ІГОРЯ СІКОРСЬКОГО»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280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предметної області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Існуючі рішення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393192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1" name="Text 9"/>
          <p:cNvSpPr/>
          <p:nvPr/>
        </p:nvSpPr>
        <p:spPr>
          <a:xfrm>
            <a:off x="475488" y="2029968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2377440"/>
            <a:ext cx="3712464" cy="283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Складний, потребує PHP-сервер та БД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61488"/>
            <a:ext cx="393192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4" name="Text 12"/>
          <p:cNvSpPr/>
          <p:nvPr/>
        </p:nvSpPr>
        <p:spPr>
          <a:xfrm>
            <a:off x="475488" y="2761488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/ Hashnode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3108960"/>
            <a:ext cx="3712464" cy="283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Закриті платформи, немає контролю над даними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93008"/>
            <a:ext cx="393192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7" name="Text 15"/>
          <p:cNvSpPr/>
          <p:nvPr/>
        </p:nvSpPr>
        <p:spPr>
          <a:xfrm>
            <a:off x="475488" y="3493008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3840480"/>
            <a:ext cx="3712464" cy="283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Лише англомовна спільнота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підхід — ByteLog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0" y="2029968"/>
            <a:ext cx="393192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1" name="Text 19"/>
          <p:cNvSpPr/>
          <p:nvPr/>
        </p:nvSpPr>
        <p:spPr>
          <a:xfrm>
            <a:off x="4956048" y="2029968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Чистий HTML/CSS/JS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56048" y="2377440"/>
            <a:ext cx="3712464" cy="283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фреймворків на клієнті, максимальна швидкість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761488"/>
            <a:ext cx="393192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4" name="Text 22"/>
          <p:cNvSpPr/>
          <p:nvPr/>
        </p:nvSpPr>
        <p:spPr>
          <a:xfrm>
            <a:off x="4956048" y="2761488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Українська мова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56048" y="3108960"/>
            <a:ext cx="3712464" cy="283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для україномовних розробників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493008"/>
            <a:ext cx="3931920" cy="68580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7" name="Text 25"/>
          <p:cNvSpPr/>
          <p:nvPr/>
        </p:nvSpPr>
        <p:spPr>
          <a:xfrm>
            <a:off x="4956048" y="3493008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56048" y="3840480"/>
            <a:ext cx="3712464" cy="283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Повний контроль над кодом та даними</a:t>
            </a:r>
            <a:endParaRPr lang="en-US" sz="1100" dirty="0"/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FE59491F-4F03-3628-A04C-3537691E9F3C}"/>
              </a:ext>
            </a:extLst>
          </p:cNvPr>
          <p:cNvSpPr/>
          <p:nvPr/>
        </p:nvSpPr>
        <p:spPr>
          <a:xfrm>
            <a:off x="-3202712" y="-1353078"/>
            <a:ext cx="175844" cy="180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30" name="Picture 2" descr="Герб університету | КПІ ім. Ігоря Сікорського">
            <a:extLst>
              <a:ext uri="{FF2B5EF4-FFF2-40B4-BE49-F238E27FC236}">
                <a16:creationId xmlns:a16="http://schemas.microsoft.com/office/drawing/2014/main" id="{68BEA116-F79C-97C3-AEC1-EE42537C1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66" y="83102"/>
            <a:ext cx="593268" cy="59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" name="Text 2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D5E"/>
                </a:solidFill>
              </a:rPr>
              <a:t>КПІ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6400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НАЦІОНАЛЬНИЙ ТЕХНІЧНИЙ УНІВЕРСИТЕТ УКРАЇНИ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«КИЇВСЬКИЙ ПОЛІТЕХНІЧНИЙ ІНСТИТУТ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імені ІГОРЯ СІКОРСЬКОГО»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280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Проєктування системи: Архітектура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1920240" cy="118872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0" name="Text 8"/>
          <p:cNvSpPr/>
          <p:nvPr/>
        </p:nvSpPr>
        <p:spPr>
          <a:xfrm>
            <a:off x="41148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039112"/>
            <a:ext cx="18288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сторінки (Розд. 2, 3)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1691640"/>
            <a:ext cx="1920240" cy="118872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3" name="Text 11"/>
          <p:cNvSpPr/>
          <p:nvPr/>
        </p:nvSpPr>
        <p:spPr>
          <a:xfrm>
            <a:off x="251460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2039112"/>
            <a:ext cx="18288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Стилі та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адаптивність (Розд. 3)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691640"/>
            <a:ext cx="1920240" cy="118872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6" name="Text 14"/>
          <p:cNvSpPr/>
          <p:nvPr/>
        </p:nvSpPr>
        <p:spPr>
          <a:xfrm>
            <a:off x="461772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data.js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2039112"/>
            <a:ext cx="18288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Моделі даних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функції (Розд. 4)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1691640"/>
            <a:ext cx="1920240" cy="118872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9" name="Text 17"/>
          <p:cNvSpPr/>
          <p:nvPr/>
        </p:nvSpPr>
        <p:spPr>
          <a:xfrm>
            <a:off x="672084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20840" y="2039112"/>
            <a:ext cx="18288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Логіка UI/UX,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рендеринг (Розд. 3)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0" y="2286000"/>
            <a:ext cx="182880" cy="0"/>
          </a:xfrm>
          <a:prstGeom prst="line">
            <a:avLst/>
          </a:prstGeom>
          <a:noFill/>
          <a:ln w="254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2" name="Shape 20"/>
          <p:cNvSpPr/>
          <p:nvPr/>
        </p:nvSpPr>
        <p:spPr>
          <a:xfrm>
            <a:off x="4389120" y="2286000"/>
            <a:ext cx="182880" cy="0"/>
          </a:xfrm>
          <a:prstGeom prst="line">
            <a:avLst/>
          </a:prstGeom>
          <a:noFill/>
          <a:ln w="254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3" name="Shape 21"/>
          <p:cNvSpPr/>
          <p:nvPr/>
        </p:nvSpPr>
        <p:spPr>
          <a:xfrm>
            <a:off x="6492240" y="2286000"/>
            <a:ext cx="182880" cy="0"/>
          </a:xfrm>
          <a:prstGeom prst="line">
            <a:avLst/>
          </a:prstGeom>
          <a:noFill/>
          <a:ln w="254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4" name="Shape 22"/>
          <p:cNvSpPr/>
          <p:nvPr/>
        </p:nvSpPr>
        <p:spPr>
          <a:xfrm>
            <a:off x="365760" y="3108960"/>
            <a:ext cx="8412480" cy="1325880"/>
          </a:xfrm>
          <a:prstGeom prst="rect">
            <a:avLst/>
          </a:prstGeom>
          <a:solidFill>
            <a:srgbClr val="F0F4FF"/>
          </a:solidFill>
          <a:ln w="12700">
            <a:solidFill>
              <a:srgbClr val="B0C4E8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5" name="Text 23"/>
          <p:cNvSpPr/>
          <p:nvPr/>
        </p:nvSpPr>
        <p:spPr>
          <a:xfrm>
            <a:off x="457200" y="3127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Серверна частина (Node.js + Express.js)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3493008"/>
            <a:ext cx="1828800" cy="749808"/>
          </a:xfrm>
          <a:prstGeom prst="rect">
            <a:avLst/>
          </a:prstGeom>
          <a:solidFill>
            <a:srgbClr val="DDEA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7" name="Text 25"/>
          <p:cNvSpPr/>
          <p:nvPr/>
        </p:nvSpPr>
        <p:spPr>
          <a:xfrm>
            <a:off x="594360" y="349300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server.js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Розд. 8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651760" y="3493008"/>
            <a:ext cx="1828800" cy="749808"/>
          </a:xfrm>
          <a:prstGeom prst="rect">
            <a:avLst/>
          </a:prstGeom>
          <a:solidFill>
            <a:srgbClr val="DDEA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9" name="Text 27"/>
          <p:cNvSpPr/>
          <p:nvPr/>
        </p:nvSpPr>
        <p:spPr>
          <a:xfrm>
            <a:off x="2697480" y="349300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api.js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Розд. 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493008"/>
            <a:ext cx="1828800" cy="749808"/>
          </a:xfrm>
          <a:prstGeom prst="rect">
            <a:avLst/>
          </a:prstGeom>
          <a:solidFill>
            <a:srgbClr val="DDEA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1" name="Text 29"/>
          <p:cNvSpPr/>
          <p:nvPr/>
        </p:nvSpPr>
        <p:spPr>
          <a:xfrm>
            <a:off x="4800600" y="349300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db.js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Розд. 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0" y="3493008"/>
            <a:ext cx="1828800" cy="749808"/>
          </a:xfrm>
          <a:prstGeom prst="rect">
            <a:avLst/>
          </a:prstGeom>
          <a:solidFill>
            <a:srgbClr val="DDEA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3" name="Text 31"/>
          <p:cNvSpPr/>
          <p:nvPr/>
        </p:nvSpPr>
        <p:spPr>
          <a:xfrm>
            <a:off x="6903720" y="349300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integrations.js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Розд. 7</a:t>
            </a:r>
            <a:endParaRPr lang="en-US" sz="1200" dirty="0"/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0092588F-B7F6-9DA1-BD54-4CEC292A7B6B}"/>
              </a:ext>
            </a:extLst>
          </p:cNvPr>
          <p:cNvSpPr/>
          <p:nvPr/>
        </p:nvSpPr>
        <p:spPr>
          <a:xfrm>
            <a:off x="-3202712" y="-1353078"/>
            <a:ext cx="175844" cy="180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35" name="Picture 2" descr="Герб університету | КПІ ім. Ігоря Сікорського">
            <a:extLst>
              <a:ext uri="{FF2B5EF4-FFF2-40B4-BE49-F238E27FC236}">
                <a16:creationId xmlns:a16="http://schemas.microsoft.com/office/drawing/2014/main" id="{1734A8D6-0D5E-7E84-1E87-34E9AE098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66" y="83102"/>
            <a:ext cx="593268" cy="59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" name="Text 2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D5E"/>
                </a:solidFill>
              </a:rPr>
              <a:t>КПІ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6400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НАЦІОНАЛЬНИЙ ТЕХНІЧНИЙ УНІВЕРСИТЕТ УКРАЇНИ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«КИЇВСЬКИЙ ПОЛІТЕХНІЧНИЙ ІНСТИТУТ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імені ІГОРЯ СІКОРСЬКОГО»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280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Проєктування: UML-діаграми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20040" y="1691640"/>
            <a:ext cx="2651760" cy="260604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0" name="Text 8"/>
          <p:cNvSpPr/>
          <p:nvPr/>
        </p:nvSpPr>
        <p:spPr>
          <a:xfrm>
            <a:off x="429768" y="169164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Компонентів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" y="2039112"/>
            <a:ext cx="2432304" cy="22037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Відображає 4 файли-компоненти та їхні зв'язки: index.html → script.js → data.js + style.css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691640"/>
            <a:ext cx="2651760" cy="260604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3" name="Text 11"/>
          <p:cNvSpPr/>
          <p:nvPr/>
        </p:nvSpPr>
        <p:spPr>
          <a:xfrm>
            <a:off x="3282696" y="169164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Взаємодії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82696" y="2039112"/>
            <a:ext cx="2432304" cy="22037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Diagram: завантаження, фільтрація, пошук, відкриття статті у модалці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896" y="1691640"/>
            <a:ext cx="2651760" cy="260604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6" name="Text 14"/>
          <p:cNvSpPr/>
          <p:nvPr/>
        </p:nvSpPr>
        <p:spPr>
          <a:xfrm>
            <a:off x="6135624" y="169164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Класів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35624" y="2039112"/>
            <a:ext cx="2432304" cy="22037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моделей: Category, Author, Tag, Article, Comment, Subscriber з UML-зв'язками M:1, M:M</a:t>
            </a:r>
            <a:endParaRPr lang="en-US" sz="11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616E4BEA-9F5D-79DE-8BF1-D4615B55B050}"/>
              </a:ext>
            </a:extLst>
          </p:cNvPr>
          <p:cNvSpPr/>
          <p:nvPr/>
        </p:nvSpPr>
        <p:spPr>
          <a:xfrm>
            <a:off x="-3202712" y="-1353078"/>
            <a:ext cx="175844" cy="180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19" name="Picture 2" descr="Герб університету | КПІ ім. Ігоря Сікорського">
            <a:extLst>
              <a:ext uri="{FF2B5EF4-FFF2-40B4-BE49-F238E27FC236}">
                <a16:creationId xmlns:a16="http://schemas.microsoft.com/office/drawing/2014/main" id="{0E961D9C-DE79-BC58-3C81-5DF992FFA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66" y="83102"/>
            <a:ext cx="593268" cy="59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" name="Text 2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D5E"/>
                </a:solidFill>
              </a:rPr>
              <a:t>КПІ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6400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НАЦІОНАЛЬНИЙ ТЕХНІЧНИЙ УНІВЕРСИТЕТ УКРАЇНИ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«КИЇВСЬКИЙ ПОЛІТЕХНІЧНИЙ ІНСТИТУТ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імені ІГОРЯ СІКОРСЬКОГО»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280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меню та інтерфейсу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Навігаційне меню (2 рівні)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393192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1" name="Text 9"/>
          <p:cNvSpPr/>
          <p:nvPr/>
        </p:nvSpPr>
        <p:spPr>
          <a:xfrm>
            <a:off x="502920" y="20299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441448"/>
            <a:ext cx="393192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3" name="Text 11"/>
          <p:cNvSpPr/>
          <p:nvPr/>
        </p:nvSpPr>
        <p:spPr>
          <a:xfrm>
            <a:off x="502920" y="2441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Статті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52928"/>
            <a:ext cx="3931920" cy="347472"/>
          </a:xfrm>
          <a:prstGeom prst="rect">
            <a:avLst/>
          </a:prstGeom>
          <a:solidFill>
            <a:srgbClr val="DDEA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5" name="Text 13"/>
          <p:cNvSpPr/>
          <p:nvPr/>
        </p:nvSpPr>
        <p:spPr>
          <a:xfrm>
            <a:off x="502920" y="28529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Категорії ▾ (Веб / AI / Безпека / DevOps / Mobile)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64408"/>
            <a:ext cx="393192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7" name="Text 15"/>
          <p:cNvSpPr/>
          <p:nvPr/>
        </p:nvSpPr>
        <p:spPr>
          <a:xfrm>
            <a:off x="502920" y="32644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675888"/>
            <a:ext cx="393192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9" name="Text 17"/>
          <p:cNvSpPr/>
          <p:nvPr/>
        </p:nvSpPr>
        <p:spPr>
          <a:xfrm>
            <a:off x="502920" y="3675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нас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087368"/>
            <a:ext cx="393192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1" name="Text 19"/>
          <p:cNvSpPr/>
          <p:nvPr/>
        </p:nvSpPr>
        <p:spPr>
          <a:xfrm>
            <a:off x="502920" y="40873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166420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Секції сторінки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2029968"/>
            <a:ext cx="393192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4" name="Text 22"/>
          <p:cNvSpPr/>
          <p:nvPr/>
        </p:nvSpPr>
        <p:spPr>
          <a:xfrm>
            <a:off x="4983480" y="20299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Hero: Заголовок, статистика, код-блок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441448"/>
            <a:ext cx="393192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6" name="Text 24"/>
          <p:cNvSpPr/>
          <p:nvPr/>
        </p:nvSpPr>
        <p:spPr>
          <a:xfrm>
            <a:off x="4983480" y="2441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Articles: Сітка карток + фільтр + пагінація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852928"/>
            <a:ext cx="393192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8" name="Text 26"/>
          <p:cNvSpPr/>
          <p:nvPr/>
        </p:nvSpPr>
        <p:spPr>
          <a:xfrm>
            <a:off x="4983480" y="28529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6 категорій у сітці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264408"/>
            <a:ext cx="393192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0" name="Text 28"/>
          <p:cNvSpPr/>
          <p:nvPr/>
        </p:nvSpPr>
        <p:spPr>
          <a:xfrm>
            <a:off x="4983480" y="32644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 Картки авторів + соцмережі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675888"/>
            <a:ext cx="393192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2" name="Text 30"/>
          <p:cNvSpPr/>
          <p:nvPr/>
        </p:nvSpPr>
        <p:spPr>
          <a:xfrm>
            <a:off x="4983480" y="3675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Subscribe: Email-форма підписки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4087368"/>
            <a:ext cx="393192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4" name="Text 32"/>
          <p:cNvSpPr/>
          <p:nvPr/>
        </p:nvSpPr>
        <p:spPr>
          <a:xfrm>
            <a:off x="4983480" y="40873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Контакти + форма</a:t>
            </a:r>
            <a:endParaRPr lang="en-US" sz="1100" dirty="0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4855DDE1-AF4A-52AE-B156-214CEFC19D0B}"/>
              </a:ext>
            </a:extLst>
          </p:cNvPr>
          <p:cNvSpPr/>
          <p:nvPr/>
        </p:nvSpPr>
        <p:spPr>
          <a:xfrm>
            <a:off x="-3202712" y="-1353078"/>
            <a:ext cx="175844" cy="180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36" name="Picture 2" descr="Герб університету | КПІ ім. Ігоря Сікорського">
            <a:extLst>
              <a:ext uri="{FF2B5EF4-FFF2-40B4-BE49-F238E27FC236}">
                <a16:creationId xmlns:a16="http://schemas.microsoft.com/office/drawing/2014/main" id="{8FBD8144-C289-D695-278C-F07E0B5C3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66" y="83102"/>
            <a:ext cx="593268" cy="59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" name="Text 2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D5E"/>
                </a:solidFill>
              </a:rPr>
              <a:t>КПІ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6400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НАЦІОНАЛЬНИЙ ТЕХНІЧНИЙ УНІВЕРСИТЕТ УКРАЇНИ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«КИЇВСЬКИЙ ПОЛІТЕХНІЧНИЙ ІНСТИТУТ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імені ІГОРЯ СІКОРСЬКОГО»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280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Стилізація інтерфейсу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1536192" cy="822960"/>
          </a:xfrm>
          <a:prstGeom prst="rect">
            <a:avLst/>
          </a:prstGeom>
          <a:solidFill>
            <a:srgbClr val="1A1D2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0" name="Text 8"/>
          <p:cNvSpPr/>
          <p:nvPr/>
        </p:nvSpPr>
        <p:spPr>
          <a:xfrm>
            <a:off x="365760" y="1664208"/>
            <a:ext cx="1536192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#1A1D27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 (#0d0f14)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48256" y="1664208"/>
            <a:ext cx="1536192" cy="822960"/>
          </a:xfrm>
          <a:prstGeom prst="rect">
            <a:avLst/>
          </a:prstGeom>
          <a:solidFill>
            <a:srgbClr val="00E5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2" name="Text 10"/>
          <p:cNvSpPr/>
          <p:nvPr/>
        </p:nvSpPr>
        <p:spPr>
          <a:xfrm>
            <a:off x="2048256" y="1664208"/>
            <a:ext cx="1536192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#00E5FF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Акцент (#00e5ff)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30752" y="1664208"/>
            <a:ext cx="1536192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4" name="Text 12"/>
          <p:cNvSpPr/>
          <p:nvPr/>
        </p:nvSpPr>
        <p:spPr>
          <a:xfrm>
            <a:off x="3730752" y="1664208"/>
            <a:ext cx="1536192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#7C3AED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Акцент 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13248" y="1664208"/>
            <a:ext cx="1536192" cy="822960"/>
          </a:xfrm>
          <a:prstGeom prst="rect">
            <a:avLst/>
          </a:prstGeom>
          <a:solidFill>
            <a:srgbClr val="E2E8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6" name="Text 14"/>
          <p:cNvSpPr/>
          <p:nvPr/>
        </p:nvSpPr>
        <p:spPr>
          <a:xfrm>
            <a:off x="5413248" y="1664208"/>
            <a:ext cx="1536192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#E2E8F0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95744" y="1664208"/>
            <a:ext cx="1536192" cy="822960"/>
          </a:xfrm>
          <a:prstGeom prst="rect">
            <a:avLst/>
          </a:prstGeom>
          <a:solidFill>
            <a:srgbClr val="64748B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8" name="Text 16"/>
          <p:cNvSpPr/>
          <p:nvPr/>
        </p:nvSpPr>
        <p:spPr>
          <a:xfrm>
            <a:off x="7095744" y="1664208"/>
            <a:ext cx="1536192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#64748B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Приглушений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263347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Типографіка: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03120" y="2633472"/>
            <a:ext cx="6675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 (заголовки) + Space Mono (код та теги) — Google Fonts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0175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Адаптивність: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383280"/>
            <a:ext cx="1965960" cy="100584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3" name="Text 21"/>
          <p:cNvSpPr/>
          <p:nvPr/>
        </p:nvSpPr>
        <p:spPr>
          <a:xfrm>
            <a:off x="365760" y="3383280"/>
            <a:ext cx="19659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&gt;1024px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468880" y="3383280"/>
            <a:ext cx="1965960" cy="100584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5" name="Text 23"/>
          <p:cNvSpPr/>
          <p:nvPr/>
        </p:nvSpPr>
        <p:spPr>
          <a:xfrm>
            <a:off x="2468880" y="3383280"/>
            <a:ext cx="19659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≤1024px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0" y="3383280"/>
            <a:ext cx="1965960" cy="100584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7" name="Text 25"/>
          <p:cNvSpPr/>
          <p:nvPr/>
        </p:nvSpPr>
        <p:spPr>
          <a:xfrm>
            <a:off x="4572000" y="3383280"/>
            <a:ext cx="19659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≤768px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75120" y="3383280"/>
            <a:ext cx="1965960" cy="100584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9" name="Text 27"/>
          <p:cNvSpPr/>
          <p:nvPr/>
        </p:nvSpPr>
        <p:spPr>
          <a:xfrm>
            <a:off x="6675120" y="3383280"/>
            <a:ext cx="19659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≤480px</a:t>
            </a:r>
            <a:endParaRPr lang="en-US" sz="1300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FAF9283C-0E9D-B77A-3490-93F462035FD1}"/>
              </a:ext>
            </a:extLst>
          </p:cNvPr>
          <p:cNvSpPr/>
          <p:nvPr/>
        </p:nvSpPr>
        <p:spPr>
          <a:xfrm>
            <a:off x="-3202712" y="-1353078"/>
            <a:ext cx="175844" cy="180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31" name="Picture 2" descr="Герб університету | КПІ ім. Ігоря Сікорського">
            <a:extLst>
              <a:ext uri="{FF2B5EF4-FFF2-40B4-BE49-F238E27FC236}">
                <a16:creationId xmlns:a16="http://schemas.microsoft.com/office/drawing/2014/main" id="{0ADA5C04-5C2F-83CE-0A5C-21D8FAE4C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66" y="83102"/>
            <a:ext cx="593268" cy="59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" name="Text 2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D5E"/>
                </a:solidFill>
              </a:rPr>
              <a:t>КПІ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6400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НАЦІОНАЛЬНИЙ ТЕХНІЧНИЙ УНІВЕРСИТЕТ УКРАЇНИ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«КИЇВСЬКИЙ ПОЛІТЕХНІЧНИЙ ІНСТИТУТ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імені ІГОРЯ СІКОРСЬКОГО»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280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Моделі даних (Розділ 4)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2651760" cy="137160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0" name="Text 8"/>
          <p:cNvSpPr/>
          <p:nvPr/>
        </p:nvSpPr>
        <p:spPr>
          <a:xfrm>
            <a:off x="429768" y="166420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" y="2011680"/>
            <a:ext cx="2432304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icon,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description, color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664208"/>
            <a:ext cx="2651760" cy="137160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3" name="Text 11"/>
          <p:cNvSpPr/>
          <p:nvPr/>
        </p:nvSpPr>
        <p:spPr>
          <a:xfrm>
            <a:off x="3282696" y="166420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82696" y="2011680"/>
            <a:ext cx="2432304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initials,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bio, skills, social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896" y="1664208"/>
            <a:ext cx="2651760" cy="137160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6" name="Text 14"/>
          <p:cNvSpPr/>
          <p:nvPr/>
        </p:nvSpPr>
        <p:spPr>
          <a:xfrm>
            <a:off x="6135624" y="166420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35624" y="2011680"/>
            <a:ext cx="2432304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label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172968"/>
            <a:ext cx="2651760" cy="137160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9" name="Text 17"/>
          <p:cNvSpPr/>
          <p:nvPr/>
        </p:nvSpPr>
        <p:spPr>
          <a:xfrm>
            <a:off x="429768" y="317296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" y="3520440"/>
            <a:ext cx="2432304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title, slug, excerpt,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category, authorId,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tags[], publishedAt, views, likes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72968" y="3172968"/>
            <a:ext cx="2651760" cy="137160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2" name="Text 20"/>
          <p:cNvSpPr/>
          <p:nvPr/>
        </p:nvSpPr>
        <p:spPr>
          <a:xfrm>
            <a:off x="3282696" y="317296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82696" y="3520440"/>
            <a:ext cx="2432304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articleId, authorId,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guestName, text, likes, parentId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25896" y="3172968"/>
            <a:ext cx="2651760" cy="137160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5" name="Text 23"/>
          <p:cNvSpPr/>
          <p:nvPr/>
        </p:nvSpPr>
        <p:spPr>
          <a:xfrm>
            <a:off x="6135624" y="317296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35624" y="3520440"/>
            <a:ext cx="2432304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email, confirmed,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categories[]</a:t>
            </a:r>
            <a:endParaRPr lang="en-US" sz="1100" dirty="0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7A8EBF4D-8FB6-55DE-A0D8-A05B67C6CB6D}"/>
              </a:ext>
            </a:extLst>
          </p:cNvPr>
          <p:cNvSpPr/>
          <p:nvPr/>
        </p:nvSpPr>
        <p:spPr>
          <a:xfrm>
            <a:off x="-3202712" y="-1353078"/>
            <a:ext cx="175844" cy="180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28" name="Picture 2" descr="Герб університету | КПІ ім. Ігоря Сікорського">
            <a:extLst>
              <a:ext uri="{FF2B5EF4-FFF2-40B4-BE49-F238E27FC236}">
                <a16:creationId xmlns:a16="http://schemas.microsoft.com/office/drawing/2014/main" id="{7145F2AA-5198-0E1F-0FE4-D05BC304C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66" y="83102"/>
            <a:ext cx="593268" cy="59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" name="Text 2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D5E"/>
                </a:solidFill>
              </a:rPr>
              <a:t>КПІ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6400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НАЦІОНАЛЬНИЙ ТЕХНІЧНИЙ УНІВЕРСИТЕТ УКРАЇНИ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«КИЇВСЬКИЙ ПОЛІТЕХНІЧНИЙ ІНСТИТУТ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імені ІГОРЯ СІКОРСЬКОГО»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280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Механізми даних: API-модуль (Розділ 5)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2651760" cy="137160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0" name="Text 8"/>
          <p:cNvSpPr/>
          <p:nvPr/>
        </p:nvSpPr>
        <p:spPr>
          <a:xfrm>
            <a:off x="429768" y="166420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ArticleAPI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" y="2011680"/>
            <a:ext cx="2432304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getAll, getById,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getFeatured, like, getStats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664208"/>
            <a:ext cx="2651760" cy="137160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3" name="Text 11"/>
          <p:cNvSpPr/>
          <p:nvPr/>
        </p:nvSpPr>
        <p:spPr>
          <a:xfrm>
            <a:off x="3282696" y="166420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82696" y="2011680"/>
            <a:ext cx="2432304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getAll,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getById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896" y="1664208"/>
            <a:ext cx="2651760" cy="137160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6" name="Text 14"/>
          <p:cNvSpPr/>
          <p:nvPr/>
        </p:nvSpPr>
        <p:spPr>
          <a:xfrm>
            <a:off x="6135624" y="166420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CommentAPI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35624" y="2011680"/>
            <a:ext cx="2432304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getByArticle,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like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172968"/>
            <a:ext cx="2651760" cy="137160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9" name="Text 17"/>
          <p:cNvSpPr/>
          <p:nvPr/>
        </p:nvSpPr>
        <p:spPr>
          <a:xfrm>
            <a:off x="429768" y="317296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SubscriberAPI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" y="3520440"/>
            <a:ext cx="2432304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unsubscribe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72968" y="3172968"/>
            <a:ext cx="2651760" cy="137160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2" name="Text 20"/>
          <p:cNvSpPr/>
          <p:nvPr/>
        </p:nvSpPr>
        <p:spPr>
          <a:xfrm>
            <a:off x="3282696" y="317296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SearchAPI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82696" y="3520440"/>
            <a:ext cx="2432304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(query, limit)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25896" y="3172968"/>
            <a:ext cx="2651760" cy="137160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5" name="Text 23"/>
          <p:cNvSpPr/>
          <p:nvPr/>
        </p:nvSpPr>
        <p:spPr>
          <a:xfrm>
            <a:off x="6135624" y="317296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ApiCache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35624" y="3520440"/>
            <a:ext cx="2432304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get, set, clear,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invalidate (TTL 300с)</a:t>
            </a:r>
            <a:endParaRPr lang="en-US" sz="1100" dirty="0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B6EDE28C-B603-8337-F1E2-780027CF4FBB}"/>
              </a:ext>
            </a:extLst>
          </p:cNvPr>
          <p:cNvSpPr/>
          <p:nvPr/>
        </p:nvSpPr>
        <p:spPr>
          <a:xfrm>
            <a:off x="-3202712" y="-1353078"/>
            <a:ext cx="175844" cy="180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28" name="Picture 2" descr="Герб університету | КПІ ім. Ігоря Сікорського">
            <a:extLst>
              <a:ext uri="{FF2B5EF4-FFF2-40B4-BE49-F238E27FC236}">
                <a16:creationId xmlns:a16="http://schemas.microsoft.com/office/drawing/2014/main" id="{7F823D67-81AF-ECCB-FBFE-197CB0A86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66" y="83102"/>
            <a:ext cx="593268" cy="59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" name="Text 2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D5E"/>
                </a:solidFill>
              </a:rPr>
              <a:t>КПІ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6400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НАЦІОНАЛЬНИЙ ТЕХНІЧНИЙ УНІВЕРСИТЕТ УКРАЇНИ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«КИЇВСЬКИЙ ПОЛІТЕХНІЧНИЙ ІНСТИТУТ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імені ІГОРЯ СІКОРСЬКОГО»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280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даних (Розділ 6)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64208"/>
          <a:ext cx="8412480" cy="2971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Таблиця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Призначення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Категорії статей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AUTO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Профілі авторів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Теги для статей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AUTO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Статті з метаданими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article_tags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Складений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Зв'язок M:M articles↔tags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AUTO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Коментарі з гілками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AUTO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Підписники розсилки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contact_messages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AUTO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D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 контактів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 2">
            <a:extLst>
              <a:ext uri="{FF2B5EF4-FFF2-40B4-BE49-F238E27FC236}">
                <a16:creationId xmlns:a16="http://schemas.microsoft.com/office/drawing/2014/main" id="{601A3F59-0A37-C2E7-7212-D41E85AFBD87}"/>
              </a:ext>
            </a:extLst>
          </p:cNvPr>
          <p:cNvSpPr/>
          <p:nvPr/>
        </p:nvSpPr>
        <p:spPr>
          <a:xfrm>
            <a:off x="-3202712" y="-1353078"/>
            <a:ext cx="175844" cy="180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10" name="Picture 2" descr="Герб університету | КПІ ім. Ігоря Сікорського">
            <a:extLst>
              <a:ext uri="{FF2B5EF4-FFF2-40B4-BE49-F238E27FC236}">
                <a16:creationId xmlns:a16="http://schemas.microsoft.com/office/drawing/2014/main" id="{87A7704E-E16C-5CB0-27CB-AE5F79157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66" y="83102"/>
            <a:ext cx="593268" cy="59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" name="Text 2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D5E"/>
                </a:solidFill>
              </a:rPr>
              <a:t>КПІ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6400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НАЦІОНАЛЬНИЙ ТЕХНІЧНИЙ УНІВЕРСИТЕТ УКРАЇНИ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«КИЇВСЬКИЙ ПОЛІТЕХНІЧНИЙ ІНСТИТУТ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імені ІГОРЯ СІКОРСЬКОГО»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280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Інтеграція сторонніх сервісів (Розділ 7)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1965960" cy="137160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0" name="Text 8"/>
          <p:cNvSpPr/>
          <p:nvPr/>
        </p:nvSpPr>
        <p:spPr>
          <a:xfrm>
            <a:off x="365760" y="1664208"/>
            <a:ext cx="1874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121408"/>
            <a:ext cx="187452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Шрифти Syne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Space Mono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1664208"/>
            <a:ext cx="1965960" cy="137160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3" name="Text 11"/>
          <p:cNvSpPr/>
          <p:nvPr/>
        </p:nvSpPr>
        <p:spPr>
          <a:xfrm>
            <a:off x="2496312" y="1664208"/>
            <a:ext cx="1874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API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96312" y="2121408"/>
            <a:ext cx="187452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Відображення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даних репо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81144" y="1664208"/>
            <a:ext cx="1965960" cy="137160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6" name="Text 14"/>
          <p:cNvSpPr/>
          <p:nvPr/>
        </p:nvSpPr>
        <p:spPr>
          <a:xfrm>
            <a:off x="4626864" y="1664208"/>
            <a:ext cx="1874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Share API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26864" y="2121408"/>
            <a:ext cx="187452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Поширення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мобільних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11696" y="1664208"/>
            <a:ext cx="1965960" cy="137160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9" name="Text 17"/>
          <p:cNvSpPr/>
          <p:nvPr/>
        </p:nvSpPr>
        <p:spPr>
          <a:xfrm>
            <a:off x="6757416" y="1664208"/>
            <a:ext cx="1874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Clipboard API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57416" y="2121408"/>
            <a:ext cx="187452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Копіювання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посилань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218688"/>
            <a:ext cx="1965960" cy="1371600"/>
          </a:xfrm>
          <a:prstGeom prst="rect">
            <a:avLst/>
          </a:prstGeom>
          <a:solidFill>
            <a:srgbClr val="F0F8FF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2" name="Text 20"/>
          <p:cNvSpPr/>
          <p:nvPr/>
        </p:nvSpPr>
        <p:spPr>
          <a:xfrm>
            <a:off x="365760" y="3218688"/>
            <a:ext cx="1874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675888"/>
            <a:ext cx="187452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Анімації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скролі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50592" y="3218688"/>
            <a:ext cx="1965960" cy="1371600"/>
          </a:xfrm>
          <a:prstGeom prst="rect">
            <a:avLst/>
          </a:prstGeom>
          <a:solidFill>
            <a:srgbClr val="F0F8FF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5" name="Text 23"/>
          <p:cNvSpPr/>
          <p:nvPr/>
        </p:nvSpPr>
        <p:spPr>
          <a:xfrm>
            <a:off x="2496312" y="3218688"/>
            <a:ext cx="1874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EmailJS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96312" y="3675888"/>
            <a:ext cx="187452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з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 контакту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81144" y="3218688"/>
            <a:ext cx="1965960" cy="1371600"/>
          </a:xfrm>
          <a:prstGeom prst="rect">
            <a:avLst/>
          </a:prstGeom>
          <a:solidFill>
            <a:srgbClr val="F0F8FF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8" name="Text 26"/>
          <p:cNvSpPr/>
          <p:nvPr/>
        </p:nvSpPr>
        <p:spPr>
          <a:xfrm>
            <a:off x="4626864" y="3218688"/>
            <a:ext cx="1874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Graph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26864" y="3675888"/>
            <a:ext cx="187452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та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соцмережі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11696" y="3218688"/>
            <a:ext cx="1965960" cy="1371600"/>
          </a:xfrm>
          <a:prstGeom prst="rect">
            <a:avLst/>
          </a:prstGeom>
          <a:solidFill>
            <a:srgbClr val="F0F8FF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1" name="Text 29"/>
          <p:cNvSpPr/>
          <p:nvPr/>
        </p:nvSpPr>
        <p:spPr>
          <a:xfrm>
            <a:off x="6757416" y="3218688"/>
            <a:ext cx="1874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57416" y="3675888"/>
            <a:ext cx="187452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(PWA)</a:t>
            </a:r>
            <a:endParaRPr lang="en-US" sz="1100" dirty="0"/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309F1846-B1B2-F3DD-703A-B727E7E52C4E}"/>
              </a:ext>
            </a:extLst>
          </p:cNvPr>
          <p:cNvSpPr/>
          <p:nvPr/>
        </p:nvSpPr>
        <p:spPr>
          <a:xfrm>
            <a:off x="-3202712" y="-1353078"/>
            <a:ext cx="175844" cy="180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34" name="Picture 2" descr="Герб університету | КПІ ім. Ігоря Сікорського">
            <a:extLst>
              <a:ext uri="{FF2B5EF4-FFF2-40B4-BE49-F238E27FC236}">
                <a16:creationId xmlns:a16="http://schemas.microsoft.com/office/drawing/2014/main" id="{3436266F-AFFA-7A30-1D1F-343E4DB0C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66" y="83102"/>
            <a:ext cx="593268" cy="59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" name="Text 2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D5E"/>
                </a:solidFill>
              </a:rPr>
              <a:t>КПІ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6400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НАЦІОНАЛЬНИЙ ТЕХНІЧНИЙ УНІВЕРСИТЕТ УКРАЇНИ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«КИЇВСЬКИЙ ПОЛІТЕХНІЧНИЙ ІНСТИТУТ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імені ІГОРЯ СІКОРСЬКОГО»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280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Серверна архітектура (Розділ 8)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14400" y="1664208"/>
            <a:ext cx="7315200" cy="804672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0" name="Text 8"/>
          <p:cNvSpPr/>
          <p:nvPr/>
        </p:nvSpPr>
        <p:spPr>
          <a:xfrm>
            <a:off x="1005840" y="166420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Клієнтський шар (Browser SPA)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04825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+ style.css + script.js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2468880"/>
            <a:ext cx="0" cy="155448"/>
          </a:xfrm>
          <a:prstGeom prst="line">
            <a:avLst/>
          </a:prstGeom>
          <a:noFill/>
          <a:ln w="254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3" name="Shape 11"/>
          <p:cNvSpPr/>
          <p:nvPr/>
        </p:nvSpPr>
        <p:spPr>
          <a:xfrm>
            <a:off x="914400" y="2624328"/>
            <a:ext cx="7315200" cy="804672"/>
          </a:xfrm>
          <a:prstGeom prst="rect">
            <a:avLst/>
          </a:prstGeom>
          <a:solidFill>
            <a:srgbClr val="DDEA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4" name="Text 12"/>
          <p:cNvSpPr/>
          <p:nvPr/>
        </p:nvSpPr>
        <p:spPr>
          <a:xfrm>
            <a:off x="1005840" y="262432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Серверний шар (Express.js)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300837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| helmet | morgan | router | controllers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34840" y="3429000"/>
            <a:ext cx="0" cy="155448"/>
          </a:xfrm>
          <a:prstGeom prst="line">
            <a:avLst/>
          </a:prstGeom>
          <a:noFill/>
          <a:ln w="254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7" name="Shape 15"/>
          <p:cNvSpPr/>
          <p:nvPr/>
        </p:nvSpPr>
        <p:spPr>
          <a:xfrm>
            <a:off x="914400" y="3584448"/>
            <a:ext cx="7315200" cy="804672"/>
          </a:xfrm>
          <a:prstGeom prst="rect">
            <a:avLst/>
          </a:prstGeom>
          <a:solidFill>
            <a:srgbClr val="D0E8FF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8" name="Text 16"/>
          <p:cNvSpPr/>
          <p:nvPr/>
        </p:nvSpPr>
        <p:spPr>
          <a:xfrm>
            <a:off x="1005840" y="35844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Шар даних (SQLite / PostgreSQL)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396849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| authors | categories | comments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REST API маршрутів: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7520" y="45720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/api/articles  ·  GET /api/authors  ·  GET /api/search  ·  POST /api/subscribe  ·  POST /api/contact  …</a:t>
            </a:r>
            <a:endParaRPr lang="en-US" sz="1100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6A3D1CF3-90A6-A754-75C2-0A668AC96A58}"/>
              </a:ext>
            </a:extLst>
          </p:cNvPr>
          <p:cNvSpPr/>
          <p:nvPr/>
        </p:nvSpPr>
        <p:spPr>
          <a:xfrm>
            <a:off x="-3202712" y="-1353078"/>
            <a:ext cx="175844" cy="180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23" name="Picture 2" descr="Герб університету | КПІ ім. Ігоря Сікорського">
            <a:extLst>
              <a:ext uri="{FF2B5EF4-FFF2-40B4-BE49-F238E27FC236}">
                <a16:creationId xmlns:a16="http://schemas.microsoft.com/office/drawing/2014/main" id="{519C08AD-5852-F094-8678-14CE6B55E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66" y="83102"/>
            <a:ext cx="593268" cy="59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" name="Text 2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D5E"/>
                </a:solidFill>
              </a:rPr>
              <a:t>КПІ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6400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НАЦІОНАЛЬНИЙ ТЕХНІЧНИЙ УНІВЕРСИТЕТ УКРАЇНИ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«КИЇВСЬКИЙ ПОЛІТЕХНІЧНИЙ ІНСТИТУТ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імені ІГОРЯ СІКОРСЬКОГО»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280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 та верифікація (Розділ 9)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2011680" cy="128016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0" name="Text 8"/>
          <p:cNvSpPr/>
          <p:nvPr/>
        </p:nvSpPr>
        <p:spPr>
          <a:xfrm>
            <a:off x="365760" y="17556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5760" y="23957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14600" y="1664208"/>
            <a:ext cx="2011680" cy="128016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3" name="Text 11"/>
          <p:cNvSpPr/>
          <p:nvPr/>
        </p:nvSpPr>
        <p:spPr>
          <a:xfrm>
            <a:off x="2514600" y="17556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514600" y="23957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664208"/>
            <a:ext cx="2011680" cy="128016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6" name="Text 14"/>
          <p:cNvSpPr/>
          <p:nvPr/>
        </p:nvSpPr>
        <p:spPr>
          <a:xfrm>
            <a:off x="4663440" y="17556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63440" y="23957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12280" y="1664208"/>
            <a:ext cx="2011680" cy="128016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9" name="Text 17"/>
          <p:cNvSpPr/>
          <p:nvPr/>
        </p:nvSpPr>
        <p:spPr>
          <a:xfrm>
            <a:off x="6812280" y="17556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812280" y="23957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035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Функціональне тестування (11 сценаріїв — всі пройдено ✓):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3337560"/>
            <a:ext cx="7863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Фільтрація за категорією, пошук, відкриття модалки, лайки, форми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Адаптивність: Desktop 1920px / Tablet 768px / iPhone 390px / Galaxy 360px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Lighthouse: Performance 94 / Accessibility 91 / SEO 92 / Best Practices 96</a:t>
            </a:r>
            <a:endParaRPr lang="en-US" sz="150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D3B9A13D-C54B-A6EE-B6BE-3F721887B942}"/>
              </a:ext>
            </a:extLst>
          </p:cNvPr>
          <p:cNvSpPr/>
          <p:nvPr/>
        </p:nvSpPr>
        <p:spPr>
          <a:xfrm>
            <a:off x="-3202712" y="-1353078"/>
            <a:ext cx="175844" cy="180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24" name="Picture 2" descr="Герб університету | КПІ ім. Ігоря Сікорського">
            <a:extLst>
              <a:ext uri="{FF2B5EF4-FFF2-40B4-BE49-F238E27FC236}">
                <a16:creationId xmlns:a16="http://schemas.microsoft.com/office/drawing/2014/main" id="{6BCE76A8-A8B1-E05E-82ED-A4EE4A883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66" y="83102"/>
            <a:ext cx="593268" cy="59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" name="Text 2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D5E"/>
                </a:solidFill>
              </a:rPr>
              <a:t>КПІ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6400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НАЦІОНАЛЬНИЙ ТЕХНІЧНИЙ УНІВЕРСИТЕТ УКРАЇНИ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«КИЇВСЬКИЙ ПОЛІТЕХНІЧНИЙ ІНСТИТУТ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імені ІГОРЯ СІКОРСЬКОГО»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280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Впровадження та розгортання (Розділ 10)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Локальне розгортання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3931920" cy="402336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git clone https://github.com/username/bytelog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32888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3" name="Text 11"/>
          <p:cNvSpPr/>
          <p:nvPr/>
        </p:nvSpPr>
        <p:spPr>
          <a:xfrm>
            <a:off x="502920" y="253288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npm install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08376"/>
            <a:ext cx="3931920" cy="402336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5" name="Text 13"/>
          <p:cNvSpPr/>
          <p:nvPr/>
        </p:nvSpPr>
        <p:spPr>
          <a:xfrm>
            <a:off x="502920" y="300837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cp .env.example .env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83864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7" name="Text 15"/>
          <p:cNvSpPr/>
          <p:nvPr/>
        </p:nvSpPr>
        <p:spPr>
          <a:xfrm>
            <a:off x="502920" y="348386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node server/server.js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959352"/>
            <a:ext cx="3931920" cy="402336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9" name="Text 17"/>
          <p:cNvSpPr/>
          <p:nvPr/>
        </p:nvSpPr>
        <p:spPr>
          <a:xfrm>
            <a:off x="502920" y="39593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Відкрити http://localhost:3000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16642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Production-розгортання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2057400"/>
            <a:ext cx="3931920" cy="402336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2" name="Text 20"/>
          <p:cNvSpPr/>
          <p:nvPr/>
        </p:nvSpPr>
        <p:spPr>
          <a:xfrm>
            <a:off x="4983480" y="20574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Налаштувати .env (PORT, DB_URL)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532888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4" name="Text 22"/>
          <p:cNvSpPr/>
          <p:nvPr/>
        </p:nvSpPr>
        <p:spPr>
          <a:xfrm>
            <a:off x="4983480" y="253288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npm install -g pm2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008376"/>
            <a:ext cx="3931920" cy="402336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6" name="Text 24"/>
          <p:cNvSpPr/>
          <p:nvPr/>
        </p:nvSpPr>
        <p:spPr>
          <a:xfrm>
            <a:off x="4983480" y="300837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pm2 start server.js --name bytelog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483864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8" name="Text 26"/>
          <p:cNvSpPr/>
          <p:nvPr/>
        </p:nvSpPr>
        <p:spPr>
          <a:xfrm>
            <a:off x="4983480" y="348386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nginx reverse proxy → HTTPS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959352"/>
            <a:ext cx="3931920" cy="402336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0" name="Text 28"/>
          <p:cNvSpPr/>
          <p:nvPr/>
        </p:nvSpPr>
        <p:spPr>
          <a:xfrm>
            <a:off x="4983480" y="39593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certbot --nginx (SSL Let's Encrypt)</a:t>
            </a:r>
            <a:endParaRPr lang="en-US" sz="1100" dirty="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0441E665-0C1E-B380-9C2A-E155B9D31A4F}"/>
              </a:ext>
            </a:extLst>
          </p:cNvPr>
          <p:cNvSpPr/>
          <p:nvPr/>
        </p:nvSpPr>
        <p:spPr>
          <a:xfrm>
            <a:off x="-3202712" y="-1353078"/>
            <a:ext cx="175844" cy="180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32" name="Picture 2" descr="Герб університету | КПІ ім. Ігоря Сікорського">
            <a:extLst>
              <a:ext uri="{FF2B5EF4-FFF2-40B4-BE49-F238E27FC236}">
                <a16:creationId xmlns:a16="http://schemas.microsoft.com/office/drawing/2014/main" id="{24A99C87-E697-5203-4BAB-07FFB15EE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66" y="83102"/>
            <a:ext cx="593268" cy="59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" name="Text 2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D5E"/>
                </a:solidFill>
              </a:rPr>
              <a:t>КПІ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6400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НАЦІОНАЛЬНИЙ ТЕХНІЧНИЙ УНІВЕРСИТЕТ УКРАЇНИ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«КИЇВСЬКИЙ ПОЛІТЕХНІЧНИЙ ІНСТИТУТ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імені ІГОРЯ СІКОРСЬКОГО»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280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Розроблено повноцінний IT-блог «ByteLog» на HTML5/CSS3/JavaScript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Побудовано UML-діаграми: компонентів, взаємодії та класів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адаптивний темний інтерфейс (4 breakpoints, Lighthouse 94)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Розроблено 6 моделей даних та API-модуль з 6 контролерами + ApiCache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Спроектовано реляційну БД з 9 таблицями та ER-діаграмою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Підключено 8 зовнішніх сервісів (Google Fonts, GitHub, PWA та ін.)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Express.js сервер з 13 REST API маршрутами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Проведено тестування: 11 функціональних сценаріїв — всі ✓</a:t>
            </a:r>
            <a:endParaRPr lang="en-US" sz="155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C8E1F5F4-72D8-5E8C-BB8C-658E9DC4E8EF}"/>
              </a:ext>
            </a:extLst>
          </p:cNvPr>
          <p:cNvSpPr/>
          <p:nvPr/>
        </p:nvSpPr>
        <p:spPr>
          <a:xfrm>
            <a:off x="-3202712" y="-1353078"/>
            <a:ext cx="175844" cy="180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11" name="Picture 2" descr="Герб університету | КПІ ім. Ігоря Сікорського">
            <a:extLst>
              <a:ext uri="{FF2B5EF4-FFF2-40B4-BE49-F238E27FC236}">
                <a16:creationId xmlns:a16="http://schemas.microsoft.com/office/drawing/2014/main" id="{3CB17D63-75C3-F16F-B030-F7EF08689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66" y="83102"/>
            <a:ext cx="593268" cy="59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137160" y="64008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5" name="Text 3"/>
          <p:cNvSpPr/>
          <p:nvPr/>
        </p:nvSpPr>
        <p:spPr>
          <a:xfrm>
            <a:off x="868680" y="6400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НАЦІОНАЛЬНИЙ ТЕХНІЧНИЙ УНІВЕРСИТЕТ УКРАЇНИ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«КИЇВСЬКИЙ ПОЛІТЕХНІЧНИЙ ІНСТИТУТ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імені ІГОРЯ СІКОРСЬКОГО»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D5E"/>
          </a:solidFill>
          <a:ln w="12700">
            <a:solidFill>
              <a:srgbClr val="1B2D5E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2801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Дякую за увагу!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IT-блог «ByteLog» — веб-застосунок на HTML5 / CSS3 / JavaScript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371600" y="2514600"/>
            <a:ext cx="6400800" cy="123444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EF"/>
            </a:solidFill>
            <a:prstDash val="solid"/>
          </a:ln>
        </p:spPr>
        <p:txBody>
          <a:bodyPr/>
          <a:lstStyle/>
          <a:p>
            <a:endParaRPr lang="ru-UA" dirty="0"/>
          </a:p>
        </p:txBody>
      </p:sp>
      <p:sp>
        <p:nvSpPr>
          <p:cNvPr id="11" name="Text 9"/>
          <p:cNvSpPr/>
          <p:nvPr/>
        </p:nvSpPr>
        <p:spPr>
          <a:xfrm>
            <a:off x="1463040" y="257860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1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1500" dirty="0">
                <a:solidFill>
                  <a:srgbClr val="2E5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https://github.com/Anastasiya4/bytelog/tree/All_Project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2962656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500" dirty="0">
                <a:solidFill>
                  <a:srgbClr val="1B2D5E"/>
                </a:solidFill>
                <a:latin typeface="Calibri" pitchFamily="34" charset="0"/>
                <a:cs typeface="Calibri" pitchFamily="34" charset="-120"/>
              </a:rPr>
              <a:t>Джус Анастасія Андріївна, група ТВ-з41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3338808E-2B3F-B3B8-40A1-78C445135249}"/>
              </a:ext>
            </a:extLst>
          </p:cNvPr>
          <p:cNvSpPr/>
          <p:nvPr/>
        </p:nvSpPr>
        <p:spPr>
          <a:xfrm>
            <a:off x="-3202712" y="-1353078"/>
            <a:ext cx="175844" cy="180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17" name="Picture 2" descr="Герб університету | КПІ ім. Ігоря Сікорського">
            <a:extLst>
              <a:ext uri="{FF2B5EF4-FFF2-40B4-BE49-F238E27FC236}">
                <a16:creationId xmlns:a16="http://schemas.microsoft.com/office/drawing/2014/main" id="{292241CB-BE3F-7914-9BD9-545EC1082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66" y="83102"/>
            <a:ext cx="593268" cy="59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1348</Words>
  <Application>Microsoft Office PowerPoint</Application>
  <PresentationFormat>Экран (16:9)</PresentationFormat>
  <Paragraphs>338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IT-блог ByteLog — Курсова робота</dc:title>
  <dc:subject>PptxGenJS Presentation</dc:subject>
  <dc:creator>PptxGenJS</dc:creator>
  <cp:lastModifiedBy>Анастасия Смайл</cp:lastModifiedBy>
  <cp:revision>3</cp:revision>
  <dcterms:created xsi:type="dcterms:W3CDTF">2026-05-16T11:46:55Z</dcterms:created>
  <dcterms:modified xsi:type="dcterms:W3CDTF">2026-05-28T11:54:01Z</dcterms:modified>
</cp:coreProperties>
</file>